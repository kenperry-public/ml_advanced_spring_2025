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Montserrat Black"/>
      <p:bold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F969CB-CF1E-4C02-935F-C6B38905925B}">
  <a:tblStyle styleId="{E8F969CB-CF1E-4C02-935F-C6B38905925B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Black-bold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ontserrat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a4b07d1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a4b07d1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0aeea1a29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0aeea1a2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6b940651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6b940651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6b940651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6b940651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6b940651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6b940651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6b940651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6b940651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6b940651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6b940651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6b940651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6b940651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6b940651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6b940651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6b940651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6b940651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6b940651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6b940651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34" name="Google Shape;34;p6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42" name="Google Shape;4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53" name="Google Shape;5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65" name="Google Shape;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68" name="Google Shape;68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2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12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72" name="Google Shape;7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8" name="Google Shape;78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08" name="Google Shape;10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3" name="Google Shape;11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Context Protocol (MCP)</a:t>
            </a:r>
            <a:endParaRPr/>
          </a:p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Sihan Dong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04/29/2025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MCP?</a:t>
            </a:r>
            <a:endParaRPr/>
          </a:p>
        </p:txBody>
      </p:sp>
      <p:sp>
        <p:nvSpPr>
          <p:cNvPr id="127" name="Google Shape;127;p22"/>
          <p:cNvSpPr txBox="1"/>
          <p:nvPr>
            <p:ph idx="4294967295" type="body"/>
          </p:nvPr>
        </p:nvSpPr>
        <p:spPr>
          <a:xfrm>
            <a:off x="674850" y="1550475"/>
            <a:ext cx="67005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standard (JSON‑RPC 2.0) introduced by Anthropic Nov 2024.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Defines how an AI client requests context from a server (uses a tool)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One protocol, many tools—swap LLM vendors or data sources without new glue.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Need MCP</a:t>
            </a:r>
            <a:endParaRPr/>
          </a:p>
        </p:txBody>
      </p:sp>
      <p:sp>
        <p:nvSpPr>
          <p:cNvPr id="133" name="Google Shape;133;p23"/>
          <p:cNvSpPr txBox="1"/>
          <p:nvPr>
            <p:ph idx="4294967295" type="body"/>
          </p:nvPr>
        </p:nvSpPr>
        <p:spPr>
          <a:xfrm>
            <a:off x="674850" y="1550475"/>
            <a:ext cx="68007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 apps traditionally require bespoke connectors for every API, DB, or SaaS tool.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Integrations become brittle and hard to audit as feature counts grow.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Teams lose time reinventing work flows, error handling, and data validation.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Components</a:t>
            </a:r>
            <a:endParaRPr/>
          </a:p>
        </p:txBody>
      </p:sp>
      <p:graphicFrame>
        <p:nvGraphicFramePr>
          <p:cNvPr id="139" name="Google Shape;139;p24"/>
          <p:cNvGraphicFramePr/>
          <p:nvPr/>
        </p:nvGraphicFramePr>
        <p:xfrm>
          <a:off x="907775" y="1319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{E8F969CB-CF1E-4C02-935F-C6B38905925B}</a:tableStyleId>
              </a:tblPr>
              <a:tblGrid>
                <a:gridCol w="1685300"/>
                <a:gridCol w="1685300"/>
                <a:gridCol w="4213275"/>
              </a:tblGrid>
              <a:tr h="397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Role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Lives 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Purpose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74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MCP Client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Host app / agent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Packages model calls into MCP messages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74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MCP Server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External service wrapper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Advertises Capabilities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74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Capabilities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Tools · Resources · Prompts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Declarative metadata + JSON Schema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Request/Response Flow</a:t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00" y="1191675"/>
            <a:ext cx="7843124" cy="323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94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Magic: How LLMs decides which tool</a:t>
            </a:r>
            <a:endParaRPr/>
          </a:p>
        </p:txBody>
      </p:sp>
      <p:sp>
        <p:nvSpPr>
          <p:cNvPr id="151" name="Google Shape;151;p26"/>
          <p:cNvSpPr txBox="1"/>
          <p:nvPr>
            <p:ph idx="4294967295" type="body"/>
          </p:nvPr>
        </p:nvSpPr>
        <p:spPr>
          <a:xfrm>
            <a:off x="474425" y="1750900"/>
            <a:ext cx="68007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System Prompting with Tools List:                                                    LLM is informed about available tools at conversation start. Each tool has a name, description, and input/output schema.</a:t>
            </a:r>
            <a:endParaRPr sz="1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Internal Planning (Chain-of-Thought)                                               Model reasons if it needs external help: "I can't guess weather — I must call get_weather."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Sample Tool Call</a:t>
            </a:r>
            <a:endParaRPr/>
          </a:p>
        </p:txBody>
      </p:sp>
      <p:sp>
        <p:nvSpPr>
          <p:cNvPr id="157" name="Google Shape;157;p27"/>
          <p:cNvSpPr txBox="1"/>
          <p:nvPr>
            <p:ph idx="4294967295" type="body"/>
          </p:nvPr>
        </p:nvSpPr>
        <p:spPr>
          <a:xfrm>
            <a:off x="674850" y="1550475"/>
            <a:ext cx="6800700" cy="28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 outputs a special tool_call </a:t>
            </a:r>
            <a:r>
              <a:rPr b="1" lang="en"/>
              <a:t>Token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Formatted in json to reduce hallucination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{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  "tool_call": {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    "name": "get_weather",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    "arguments": { "location": "Paris" }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/>
              <a:t>  }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424900" cy="16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Real-World Example: Organizing Files with Claude MCP</a:t>
            </a:r>
            <a:endParaRPr sz="3500"/>
          </a:p>
        </p:txBody>
      </p:sp>
      <p:sp>
        <p:nvSpPr>
          <p:cNvPr id="163" name="Google Shape;163;p28"/>
          <p:cNvSpPr txBox="1"/>
          <p:nvPr>
            <p:ph idx="4294967295" type="body"/>
          </p:nvPr>
        </p:nvSpPr>
        <p:spPr>
          <a:xfrm>
            <a:off x="674850" y="1550475"/>
            <a:ext cx="68007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If we have m</a:t>
            </a:r>
            <a:r>
              <a:rPr lang="en" sz="1300"/>
              <a:t>essy project folder: .py, .txt, .md, .csv files.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User  wants Claude to organize </a:t>
            </a:r>
            <a:r>
              <a:rPr lang="en" sz="1300"/>
              <a:t>local</a:t>
            </a:r>
            <a:r>
              <a:rPr lang="en" sz="1300"/>
              <a:t> file folders</a:t>
            </a:r>
            <a:endParaRPr sz="13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Download Claude desktop which has mcp feature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Connect to a local file MCP server using this configuration:</a:t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250" y="2982725"/>
            <a:ext cx="4854874" cy="16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/>
        </p:nvSpPr>
        <p:spPr>
          <a:xfrm>
            <a:off x="753350" y="768200"/>
            <a:ext cx="66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525" y="945600"/>
            <a:ext cx="3632724" cy="16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825" y="815425"/>
            <a:ext cx="3260151" cy="263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686525" y="3801725"/>
            <a:ext cx="7363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Now we can a</a:t>
            </a: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sk claude: "Organize files: scripts to /scripts, documents to /docs, data to /data."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little AD: AI S</a:t>
            </a:r>
            <a:r>
              <a:rPr lang="en"/>
              <a:t>now Coach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 rotWithShape="1">
          <a:blip r:embed="rId3">
            <a:alphaModFix/>
          </a:blip>
          <a:srcRect b="0" l="19855" r="20084" t="0"/>
          <a:stretch/>
        </p:blipFill>
        <p:spPr>
          <a:xfrm>
            <a:off x="650925" y="1646950"/>
            <a:ext cx="1808825" cy="26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1175" y="1646950"/>
            <a:ext cx="2694925" cy="262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 txBox="1"/>
          <p:nvPr/>
        </p:nvSpPr>
        <p:spPr>
          <a:xfrm>
            <a:off x="706600" y="1132225"/>
            <a:ext cx="736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https://snowcoach.streamlit.app</a:t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9825" y="1646925"/>
            <a:ext cx="2721006" cy="262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87" name="Google Shape;187;p31"/>
          <p:cNvSpPr txBox="1"/>
          <p:nvPr>
            <p:ph idx="4294967295" type="body"/>
          </p:nvPr>
        </p:nvSpPr>
        <p:spPr>
          <a:xfrm>
            <a:off x="708250" y="1561600"/>
            <a:ext cx="68007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https://sebastian-petrus.medium.com/mcp-server-claude-work-with-local-files-594f332a7084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